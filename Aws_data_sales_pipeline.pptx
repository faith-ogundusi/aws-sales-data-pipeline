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/>
            <a:ln>
              <a:noFill/>
            </a:ln>
          </c:spPr>
          <c:dPt>
            <c:idx val="0"/>
            <c:spPr>
              <a:solidFill>
                <a:srgbClr val="FF9900"/>
              </a:solidFill>
            </c:spPr>
          </c:dPt>
          <c:dPt>
            <c:idx val="1"/>
            <c:spPr>
              <a:solidFill>
                <a:srgbClr val="BE3D3D"/>
              </a:solidFill>
            </c:spPr>
          </c:dPt>
          <c:cat>
            <c:strRef>
              <c:f>Sheet1!$A$2:$A$3</c:f>
              <c:strCache>
                <c:ptCount val="2"/>
                <c:pt idx="0">
                  <c:v>Valid / Accepted</c:v>
                </c:pt>
                <c:pt idx="1">
                  <c:v>Rejected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30315</c:v>
                </c:pt>
                <c:pt idx="1">
                  <c:v>19685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faith-ogundusi/aws-sales-data-pipeline" TargetMode="External"/><Relationship Id="rId3" Type="http://schemas.openxmlformats.org/officeDocument/2006/relationships/hyperlink" Target="https://faith-ogundusi.github.io/aws-sales-data-pipeline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03920" y="822960"/>
            <a:ext cx="1005840" cy="1005840"/>
          </a:xfrm>
          <a:prstGeom prst="ellipse">
            <a:avLst/>
          </a:prstGeom>
          <a:solidFill>
            <a:srgbClr val="1F2F44"/>
          </a:solidFill>
          <a:ln w="12700">
            <a:solidFill>
              <a:srgbClr val="394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18320" y="1143000"/>
            <a:ext cx="685800" cy="685800"/>
          </a:xfrm>
          <a:prstGeom prst="ellipse">
            <a:avLst/>
          </a:prstGeom>
          <a:solidFill>
            <a:srgbClr val="1F2F44"/>
          </a:solidFill>
          <a:ln w="12700">
            <a:solidFill>
              <a:srgbClr val="394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04120" y="749808"/>
            <a:ext cx="1188720" cy="1188720"/>
          </a:xfrm>
          <a:prstGeom prst="ellipse">
            <a:avLst/>
          </a:prstGeom>
          <a:solidFill>
            <a:srgbClr val="1F2F44"/>
          </a:solidFill>
          <a:ln w="12700">
            <a:solidFill>
              <a:srgbClr val="394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0" y="1874519"/>
            <a:ext cx="1554480" cy="1554480"/>
          </a:xfrm>
          <a:prstGeom prst="ellipse">
            <a:avLst/>
          </a:prstGeom>
          <a:solidFill>
            <a:srgbClr val="1F2F44"/>
          </a:solidFill>
          <a:ln w="12700">
            <a:solidFill>
              <a:srgbClr val="394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321040" y="4297680"/>
            <a:ext cx="164592" cy="164592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18320" y="4297680"/>
            <a:ext cx="164592" cy="164592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15600" y="4297680"/>
            <a:ext cx="164592" cy="164592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384280" y="4297680"/>
            <a:ext cx="164592" cy="164592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8485632" y="4379976"/>
            <a:ext cx="841248" cy="0"/>
          </a:xfrm>
          <a:prstGeom prst="line">
            <a:avLst/>
          </a:prstGeom>
          <a:ln w="2540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582912" y="4379976"/>
            <a:ext cx="841248" cy="0"/>
          </a:xfrm>
          <a:prstGeom prst="line">
            <a:avLst/>
          </a:prstGeom>
          <a:ln w="2540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680192" y="4379976"/>
            <a:ext cx="612648" cy="0"/>
          </a:xfrm>
          <a:prstGeom prst="line">
            <a:avLst/>
          </a:prstGeom>
          <a:ln w="2540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1143000"/>
            <a:ext cx="7132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500" b="1">
                <a:solidFill>
                  <a:srgbClr val="FFFFFF"/>
                </a:solidFill>
                <a:latin typeface="Aptos"/>
              </a:defRPr>
            </a:pPr>
            <a:r>
              <a:t>AWS Sales Data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938528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DCE4EB"/>
                </a:solidFill>
                <a:latin typeface="Aptos"/>
              </a:defRPr>
            </a:pPr>
            <a:r>
              <a:t>A Cloud-Based Data Engineering Solution for</a:t>
            </a:r>
            <a:br/>
            <a:r>
              <a:t>Automated Sales Data Processing and Business Insights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154680"/>
            <a:ext cx="2148840" cy="310896"/>
          </a:xfrm>
          <a:prstGeom prst="round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159252"/>
            <a:ext cx="2148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21F2F"/>
                </a:solidFill>
                <a:latin typeface="Aptos"/>
              </a:defRPr>
            </a:pPr>
            <a:r>
              <a:t>CLOUD FOUNDATIONS VIRTUAL BOOTCAMP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3822191"/>
            <a:ext cx="4389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Prepared by Faith Ogundusi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22452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EC9D5"/>
                </a:solidFill>
                <a:latin typeface="Aptos"/>
              </a:defRPr>
            </a:pPr>
            <a:r>
              <a:t>August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715000"/>
            <a:ext cx="6766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6A5B4"/>
                </a:solidFill>
                <a:latin typeface="Aptos"/>
              </a:defRPr>
            </a:pPr>
            <a:r>
              <a:t>Cloud data • validation • storage • monitoring • business insights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C2CCD6"/>
                </a:solidFill>
                <a:latin typeface="Aptos"/>
              </a:defRPr>
            </a:pPr>
            <a:r>
              <a:t>Cloud Foundations Virtual Bootcamp  •  AWS Sales Data Pipeline  •  August 2026                            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2F"/>
                </a:solidFill>
                <a:latin typeface="Aptos Display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9611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E6A78"/>
                </a:solidFill>
                <a:latin typeface="Aptos"/>
              </a:defRPr>
            </a:pPr>
            <a:r>
              <a:t>From raw transactional data to validated, structured business information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166360" cy="1691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636776"/>
            <a:ext cx="48371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1F2F"/>
                </a:solidFill>
                <a:latin typeface="Aptos"/>
              </a:defRPr>
            </a:pPr>
            <a:r>
              <a:t>WHAT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984248"/>
            <a:ext cx="483717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6A78"/>
                </a:solidFill>
                <a:latin typeface="Aptos"/>
              </a:defRPr>
            </a:pPr>
            <a:r>
              <a:t>A cloud-based data engineering project that processes, validates, stores, monitors, and transforms sales data into business insights.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08760"/>
            <a:ext cx="5166360" cy="1691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D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636776"/>
            <a:ext cx="48371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1F2F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1984248"/>
            <a:ext cx="483717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6A78"/>
                </a:solidFill>
                <a:latin typeface="Aptos"/>
              </a:defRPr>
            </a:pPr>
            <a:r>
              <a:t>The Online Retail Dataset, a transactional sales dataset obtained through Kaggle.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57600"/>
            <a:ext cx="5166360" cy="1691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18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3785615"/>
            <a:ext cx="48371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1F2F"/>
                </a:solidFill>
                <a:latin typeface="Aptos"/>
              </a:defRPr>
            </a:pPr>
            <a:r>
              <a:t>WHY AWS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4133087"/>
            <a:ext cx="483717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6A78"/>
                </a:solidFill>
                <a:latin typeface="Aptos"/>
              </a:defRPr>
            </a:pPr>
            <a:r>
              <a:t>Managed AWS services provide the project’s storage, processing, scheduling, database, notifications, monitoring, and access-control components.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657600"/>
            <a:ext cx="5166360" cy="1691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E4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3785615"/>
            <a:ext cx="48371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1F2F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4133087"/>
            <a:ext cx="483717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6A78"/>
                </a:solidFill>
                <a:latin typeface="Aptos"/>
              </a:defRPr>
            </a:pPr>
            <a:r>
              <a:t>Automate ingestion and validation, separate valid and rejected records, store accepted data, and surface sales KPIs.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74243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9900"/>
                </a:solidFill>
                <a:latin typeface="Aptos"/>
              </a:defRPr>
            </a:pPr>
            <a:r>
              <a:t>CORE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5696712"/>
            <a:ext cx="8961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21F2F"/>
                </a:solidFill>
                <a:latin typeface="Aptos"/>
              </a:defRPr>
            </a:pPr>
            <a:r>
              <a:t>Online Retail CSV  →  Amazon S3  →  AWS Lambda  →  Valid / Rejected  →  RDS +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5E6A78"/>
                </a:solidFill>
                <a:latin typeface="Aptos"/>
              </a:defRPr>
            </a:pPr>
            <a:r>
              <a:t>Cloud Foundations Virtual Bootcamp  •  AWS Sales Data Pipeline  •  August 2026                         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2F"/>
                </a:solidFill>
                <a:latin typeface="Aptos Display"/>
              </a:defRPr>
            </a:pPr>
            <a:r>
              <a:t>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9611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E6A78"/>
                </a:solidFill>
                <a:latin typeface="Aptos"/>
              </a:defRPr>
            </a:pPr>
            <a:r>
              <a:t>Why automated data quality and organization matter</a:t>
            </a:r>
          </a:p>
        </p:txBody>
      </p:sp>
      <p:sp>
        <p:nvSpPr>
          <p:cNvPr id="5" name="Oval 4"/>
          <p:cNvSpPr/>
          <p:nvPr/>
        </p:nvSpPr>
        <p:spPr>
          <a:xfrm>
            <a:off x="658368" y="1490472"/>
            <a:ext cx="347472" cy="347472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99616"/>
            <a:ext cx="34747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417320"/>
            <a:ext cx="2331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1F2F"/>
                </a:solidFill>
                <a:latin typeface="Aptos"/>
              </a:defRPr>
            </a:pPr>
            <a:r>
              <a:t>Incomplete / invalid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1399032"/>
            <a:ext cx="78181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80" b="0">
                <a:solidFill>
                  <a:srgbClr val="5E6A78"/>
                </a:solidFill>
                <a:latin typeface="Aptos"/>
              </a:defRPr>
            </a:pPr>
            <a:r>
              <a:t>Raw sales data can contain missing required fields, zero or negative quantities, and zero or negative unit prices.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2542032"/>
            <a:ext cx="347472" cy="347472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551176"/>
            <a:ext cx="34747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468880"/>
            <a:ext cx="2331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1F2F"/>
                </a:solidFill>
                <a:latin typeface="Aptos"/>
              </a:defRPr>
            </a:pPr>
            <a:r>
              <a:t>Manual effort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450592"/>
            <a:ext cx="78181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80" b="0">
                <a:solidFill>
                  <a:srgbClr val="5E6A78"/>
                </a:solidFill>
                <a:latin typeface="Aptos"/>
              </a:defRPr>
            </a:pPr>
            <a:r>
              <a:t>Identifying invalid records, maintaining organized datasets, and preparing data for analysis can be time-consuming.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3593591"/>
            <a:ext cx="347472" cy="347472"/>
          </a:xfrm>
          <a:prstGeom prst="ellipse">
            <a:avLst/>
          </a:prstGeom>
          <a:solidFill>
            <a:srgbClr val="2D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602735"/>
            <a:ext cx="34747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520439"/>
            <a:ext cx="2331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1F2F"/>
                </a:solidFill>
                <a:latin typeface="Aptos"/>
              </a:defRPr>
            </a:pPr>
            <a:r>
              <a:t>Reliable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502151"/>
            <a:ext cx="78181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80" b="0">
                <a:solidFill>
                  <a:srgbClr val="5E6A78"/>
                </a:solidFill>
                <a:latin typeface="Aptos"/>
              </a:defRPr>
            </a:pPr>
            <a:r>
              <a:t>Business users need accepted data in a structured form that can support reporting and decision-making.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4645152"/>
            <a:ext cx="347472" cy="347472"/>
          </a:xfrm>
          <a:prstGeom prst="ellipse">
            <a:avLst/>
          </a:prstGeom>
          <a:solidFill>
            <a:srgbClr val="2D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654296"/>
            <a:ext cx="34747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4572000"/>
            <a:ext cx="2331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1F2F"/>
                </a:solidFill>
                <a:latin typeface="Aptos"/>
              </a:defRPr>
            </a:pPr>
            <a:r>
              <a:t>Traceability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4553712"/>
            <a:ext cx="78181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80" b="0">
                <a:solidFill>
                  <a:srgbClr val="5E6A78"/>
                </a:solidFill>
                <a:latin typeface="Aptos"/>
              </a:defRPr>
            </a:pPr>
            <a:r>
              <a:t>Rejected records should remain available for review rather than disappearing from the workflow.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623560"/>
            <a:ext cx="10881360" cy="566928"/>
          </a:xfrm>
          <a:prstGeom prst="roundRect">
            <a:avLst/>
          </a:prstGeom>
          <a:solidFill>
            <a:srgbClr val="12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724144"/>
            <a:ext cx="10469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KEY PROBLEM  •  How can raw sales data be processed automatically, invalid records separated, accepted records stored, and useful sales information made available for business analysis?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5E6A78"/>
                </a:solidFill>
                <a:latin typeface="Aptos"/>
              </a:defRPr>
            </a:pPr>
            <a:r>
              <a:t>Cloud Foundations Virtual Bootcamp  •  AWS Sales Data Pipeline  •  August 2026                         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2F"/>
                </a:solidFill>
                <a:latin typeface="Aptos Display"/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9611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E6A78"/>
                </a:solidFill>
                <a:latin typeface="Aptos"/>
              </a:defRPr>
            </a:pPr>
            <a:r>
              <a:t>A managed AWS workflow for ingestion, validation, storage, notification, monitoring, and visualization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1874519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719072"/>
            <a:ext cx="165506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1F2F"/>
                </a:solidFill>
                <a:latin typeface="Aptos"/>
              </a:defRPr>
            </a:pPr>
            <a:r>
              <a:t>Online Retail</a:t>
            </a:r>
            <a:br/>
            <a:r>
              <a:t>CSV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508760"/>
            <a:ext cx="1874519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8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52928" y="1719072"/>
            <a:ext cx="165506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1F2F"/>
                </a:solidFill>
                <a:latin typeface="Aptos"/>
              </a:defRPr>
            </a:pPr>
            <a:r>
              <a:t>Amazon S3</a:t>
            </a:r>
            <a:br/>
            <a:r>
              <a:t>Raw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3480" y="1508760"/>
            <a:ext cx="1874519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93208" y="1719072"/>
            <a:ext cx="165506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1F2F"/>
                </a:solidFill>
                <a:latin typeface="Aptos"/>
              </a:defRPr>
            </a:pPr>
            <a:r>
              <a:t>AWS Lambda</a:t>
            </a:r>
            <a:br/>
            <a:r>
              <a:t>Python 3.12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1508760"/>
            <a:ext cx="1874519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E4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3488" y="1719072"/>
            <a:ext cx="165506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1F2F"/>
                </a:solidFill>
                <a:latin typeface="Aptos"/>
              </a:defRPr>
            </a:pPr>
            <a:r>
              <a:t>Data</a:t>
            </a:r>
            <a:br/>
            <a:r>
              <a:t>Validation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77439" y="1965960"/>
            <a:ext cx="365761" cy="0"/>
          </a:xfrm>
          <a:prstGeom prst="line">
            <a:avLst/>
          </a:prstGeom>
          <a:ln w="27940">
            <a:solidFill>
              <a:srgbClr val="12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617720" y="1965960"/>
            <a:ext cx="365760" cy="0"/>
          </a:xfrm>
          <a:prstGeom prst="line">
            <a:avLst/>
          </a:prstGeom>
          <a:ln w="27940">
            <a:solidFill>
              <a:srgbClr val="12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858000" y="1965960"/>
            <a:ext cx="365760" cy="0"/>
          </a:xfrm>
          <a:prstGeom prst="line">
            <a:avLst/>
          </a:prstGeom>
          <a:ln w="27940">
            <a:solidFill>
              <a:srgbClr val="12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464040" y="1234440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9900"/>
                </a:solidFill>
                <a:latin typeface="Aptos"/>
              </a:defRPr>
            </a:pPr>
            <a:r>
              <a:t>VALID / REJECTED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600200"/>
            <a:ext cx="2606040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18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62872" y="1728216"/>
            <a:ext cx="22768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21F2F"/>
                </a:solidFill>
                <a:latin typeface="Aptos"/>
              </a:defRPr>
            </a:pPr>
            <a:r>
              <a:t>VALID 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075688"/>
            <a:ext cx="2276856" cy="274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6A78"/>
                </a:solidFill>
                <a:latin typeface="Aptos"/>
              </a:defRPr>
            </a:pPr>
            <a:r>
              <a:t>Amazon S3  →  Amazon RDS (MySQL)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2880360"/>
            <a:ext cx="2606040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E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62872" y="3008376"/>
            <a:ext cx="22768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21F2F"/>
                </a:solidFill>
                <a:latin typeface="Aptos"/>
              </a:defRPr>
            </a:pPr>
            <a:r>
              <a:t>REJECTED RECORDS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2872" y="3355848"/>
            <a:ext cx="2276856" cy="274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6A78"/>
                </a:solidFill>
                <a:latin typeface="Aptos"/>
              </a:defRPr>
            </a:pPr>
            <a:r>
              <a:t>Amazon S3  • retained with error information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9006840" y="1965960"/>
            <a:ext cx="91440" cy="0"/>
          </a:xfrm>
          <a:prstGeom prst="line">
            <a:avLst/>
          </a:prstGeom>
          <a:ln w="25400">
            <a:solidFill>
              <a:srgbClr val="12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006840" y="1965960"/>
            <a:ext cx="0" cy="1344168"/>
          </a:xfrm>
          <a:prstGeom prst="line">
            <a:avLst/>
          </a:prstGeom>
          <a:ln w="21590">
            <a:solidFill>
              <a:srgbClr val="12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85800" y="3246120"/>
            <a:ext cx="333756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D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374136"/>
            <a:ext cx="30083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21F2F"/>
                </a:solidFill>
                <a:latin typeface="Aptos"/>
              </a:defRPr>
            </a:pPr>
            <a:r>
              <a:t>AUTOMATION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" y="3721608"/>
            <a:ext cx="300837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5E6A78"/>
                </a:solidFill>
                <a:latin typeface="Aptos"/>
              </a:defRPr>
            </a:pPr>
            <a:r>
              <a:t>Amazon EventBridge schedules the Lambda processing function.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3246120"/>
            <a:ext cx="333756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E4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9431" y="3374136"/>
            <a:ext cx="30083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21F2F"/>
                </a:solidFill>
                <a:latin typeface="Aptos"/>
              </a:defRPr>
            </a:pPr>
            <a:r>
              <a:t>MONITORING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1" y="3721608"/>
            <a:ext cx="300837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5E6A78"/>
                </a:solidFill>
                <a:latin typeface="Aptos"/>
              </a:defRPr>
            </a:pPr>
            <a:r>
              <a:t>Amazon CloudWatch supports Lambda execution logs and error review.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83879" y="4251960"/>
            <a:ext cx="347472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48471" y="4379976"/>
            <a:ext cx="31455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21F2F"/>
                </a:solidFill>
                <a:latin typeface="Aptos"/>
              </a:defRPr>
            </a:pPr>
            <a:r>
              <a:t>NOTIFICATIONS + INSIGHTS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8471" y="4727448"/>
            <a:ext cx="314553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70" b="0">
                <a:solidFill>
                  <a:srgbClr val="5E6A78"/>
                </a:solidFill>
                <a:latin typeface="Aptos"/>
              </a:defRPr>
            </a:pPr>
            <a:r>
              <a:t>Amazon SNS provides completion / alert notifications. Accepted data feeds the Sales KPI Dashboard.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269480" y="3858768"/>
            <a:ext cx="0" cy="393192"/>
          </a:xfrm>
          <a:prstGeom prst="line">
            <a:avLst/>
          </a:prstGeom>
          <a:ln w="20320">
            <a:solidFill>
              <a:srgbClr val="2D66B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126480" y="2423160"/>
            <a:ext cx="0" cy="777240"/>
          </a:xfrm>
          <a:prstGeom prst="line">
            <a:avLst/>
          </a:prstGeom>
          <a:ln w="20320">
            <a:solidFill>
              <a:srgbClr val="7E4CB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5E6A78"/>
                </a:solidFill>
                <a:latin typeface="Aptos"/>
              </a:defRPr>
            </a:pPr>
            <a:r>
              <a:t>Cloud Foundations Virtual Bootcamp  •  AWS Sales Data Pipeline  •  August 2026                         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2F"/>
                </a:solidFill>
                <a:latin typeface="Aptos Display"/>
              </a:defRPr>
            </a:pPr>
            <a:r>
              <a:t>AWS 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9611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E6A78"/>
                </a:solidFill>
                <a:latin typeface="Aptos"/>
              </a:defRPr>
            </a:pPr>
            <a:r>
              <a:t>Project architecture from the report / repository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61872"/>
            <a:ext cx="7909560" cy="5273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41080" y="1234440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9900"/>
                </a:solidFill>
                <a:latin typeface="Aptos"/>
              </a:defRPr>
            </a:pPr>
            <a:r>
              <a:t>AWS SERVICE ROLES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1645920"/>
            <a:ext cx="2971800" cy="566928"/>
          </a:xfrm>
          <a:prstGeom prst="roundRect">
            <a:avLst/>
          </a:prstGeom>
          <a:solidFill>
            <a:srgbClr val="F6F8FA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95360" y="1645920"/>
            <a:ext cx="73152" cy="566928"/>
          </a:xfrm>
          <a:prstGeom prst="rect">
            <a:avLst/>
          </a:prstGeom>
          <a:solidFill>
            <a:srgbClr val="318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96528" y="1709928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21F2F"/>
                </a:solidFill>
                <a:latin typeface="Aptos"/>
              </a:defRPr>
            </a:pPr>
            <a:r>
              <a:t>Amazon S3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04120" y="1700784"/>
            <a:ext cx="1298448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0">
                <a:solidFill>
                  <a:srgbClr val="5E6A78"/>
                </a:solidFill>
                <a:latin typeface="Aptos"/>
              </a:defRPr>
            </a:pPr>
            <a:r>
              <a:t>Raw, valid, and rejected sales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2276856"/>
            <a:ext cx="2971800" cy="566928"/>
          </a:xfrm>
          <a:prstGeom prst="roundRect">
            <a:avLst/>
          </a:prstGeom>
          <a:solidFill>
            <a:srgbClr val="F6F8FA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95360" y="2276856"/>
            <a:ext cx="73152" cy="56692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96528" y="2340864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21F2F"/>
                </a:solidFill>
                <a:latin typeface="Aptos"/>
              </a:defRPr>
            </a:pPr>
            <a:r>
              <a:t>AWS Lambda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04120" y="2331720"/>
            <a:ext cx="1298448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0">
                <a:solidFill>
                  <a:srgbClr val="5E6A78"/>
                </a:solidFill>
                <a:latin typeface="Aptos"/>
              </a:defRPr>
            </a:pPr>
            <a:r>
              <a:t>Serverless processing and validation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2907792"/>
            <a:ext cx="2971800" cy="566928"/>
          </a:xfrm>
          <a:prstGeom prst="roundRect">
            <a:avLst/>
          </a:prstGeom>
          <a:solidFill>
            <a:srgbClr val="F6F8FA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95360" y="2907792"/>
            <a:ext cx="73152" cy="566928"/>
          </a:xfrm>
          <a:prstGeom prst="rect">
            <a:avLst/>
          </a:prstGeom>
          <a:solidFill>
            <a:srgbClr val="7E4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96528" y="2971800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21F2F"/>
                </a:solidFill>
                <a:latin typeface="Aptos"/>
              </a:defRPr>
            </a:pPr>
            <a:r>
              <a:t>Amazon 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04120" y="2962656"/>
            <a:ext cx="1298448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0">
                <a:solidFill>
                  <a:srgbClr val="5E6A78"/>
                </a:solidFill>
                <a:latin typeface="Aptos"/>
              </a:defRPr>
            </a:pPr>
            <a:r>
              <a:t>Accepted records in MySQL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95360" y="3538728"/>
            <a:ext cx="2971800" cy="566928"/>
          </a:xfrm>
          <a:prstGeom prst="roundRect">
            <a:avLst/>
          </a:prstGeom>
          <a:solidFill>
            <a:srgbClr val="F6F8FA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95360" y="3538728"/>
            <a:ext cx="73152" cy="566928"/>
          </a:xfrm>
          <a:prstGeom prst="rect">
            <a:avLst/>
          </a:prstGeom>
          <a:solidFill>
            <a:srgbClr val="D2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96528" y="3602736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21F2F"/>
                </a:solidFill>
                <a:latin typeface="Aptos"/>
              </a:defRPr>
            </a:pPr>
            <a:r>
              <a:t>Amazon SNS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04120" y="3593592"/>
            <a:ext cx="1298448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0">
                <a:solidFill>
                  <a:srgbClr val="5E6A78"/>
                </a:solidFill>
                <a:latin typeface="Aptos"/>
              </a:defRPr>
            </a:pPr>
            <a:r>
              <a:t>Completion and alert notifications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95360" y="4169664"/>
            <a:ext cx="2971800" cy="566928"/>
          </a:xfrm>
          <a:prstGeom prst="roundRect">
            <a:avLst/>
          </a:prstGeom>
          <a:solidFill>
            <a:srgbClr val="F6F8FA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95360" y="4169664"/>
            <a:ext cx="73152" cy="566928"/>
          </a:xfrm>
          <a:prstGeom prst="rect">
            <a:avLst/>
          </a:prstGeom>
          <a:solidFill>
            <a:srgbClr val="2D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96528" y="4233672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21F2F"/>
                </a:solidFill>
                <a:latin typeface="Aptos"/>
              </a:defRPr>
            </a:pPr>
            <a:r>
              <a:t>Amazon EventBridge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04120" y="4224528"/>
            <a:ext cx="1298448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0">
                <a:solidFill>
                  <a:srgbClr val="5E6A78"/>
                </a:solidFill>
                <a:latin typeface="Aptos"/>
              </a:defRPr>
            </a:pPr>
            <a:r>
              <a:t>Scheduled pipeline execution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95360" y="4800600"/>
            <a:ext cx="2971800" cy="566928"/>
          </a:xfrm>
          <a:prstGeom prst="roundRect">
            <a:avLst/>
          </a:prstGeom>
          <a:solidFill>
            <a:srgbClr val="F6F8FA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95360" y="4800600"/>
            <a:ext cx="73152" cy="566928"/>
          </a:xfrm>
          <a:prstGeom prst="rect">
            <a:avLst/>
          </a:prstGeom>
          <a:solidFill>
            <a:srgbClr val="8C3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96528" y="4864608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21F2F"/>
                </a:solidFill>
                <a:latin typeface="Aptos"/>
              </a:defRPr>
            </a:pPr>
            <a:r>
              <a:t>Amazon CloudWatch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04120" y="4855464"/>
            <a:ext cx="1298448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0">
                <a:solidFill>
                  <a:srgbClr val="5E6A78"/>
                </a:solidFill>
                <a:latin typeface="Aptos"/>
              </a:defRPr>
            </a:pPr>
            <a:r>
              <a:t>Lambda logs and error monitoring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95360" y="5431536"/>
            <a:ext cx="2971800" cy="566928"/>
          </a:xfrm>
          <a:prstGeom prst="roundRect">
            <a:avLst/>
          </a:prstGeom>
          <a:solidFill>
            <a:srgbClr val="F6F8FA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95360" y="5431536"/>
            <a:ext cx="73152" cy="566928"/>
          </a:xfrm>
          <a:prstGeom prst="rect">
            <a:avLst/>
          </a:prstGeom>
          <a:solidFill>
            <a:srgbClr val="1F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96528" y="5495544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21F2F"/>
                </a:solidFill>
                <a:latin typeface="Aptos"/>
              </a:defRPr>
            </a:pPr>
            <a:r>
              <a:t>AWS IAM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04120" y="5486399"/>
            <a:ext cx="1298448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0">
                <a:solidFill>
                  <a:srgbClr val="5E6A78"/>
                </a:solidFill>
                <a:latin typeface="Aptos"/>
              </a:defRPr>
            </a:pPr>
            <a:r>
              <a:t>Access and permissions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5E6A78"/>
                </a:solidFill>
                <a:latin typeface="Aptos"/>
              </a:defRPr>
            </a:pPr>
            <a:r>
              <a:t>Cloud Foundations Virtual Bootcamp  •  AWS Sales Data Pipeline  •  August 2026                         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2F"/>
                </a:solidFill>
                <a:latin typeface="Aptos Display"/>
              </a:defRPr>
            </a:pPr>
            <a:r>
              <a:t>Pipeline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9611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E6A78"/>
                </a:solidFill>
                <a:latin typeface="Aptos"/>
              </a:defRPr>
            </a:pPr>
            <a:r>
              <a:t>Nine stages documented in the project report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325880"/>
            <a:ext cx="347472" cy="347472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35024"/>
            <a:ext cx="34747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1316736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21F2F"/>
                </a:solidFill>
                <a:latin typeface="Aptos"/>
              </a:defRPr>
            </a:pPr>
            <a:r>
              <a:t>Data 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1673352"/>
            <a:ext cx="31546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9" b="0">
                <a:solidFill>
                  <a:srgbClr val="5E6A78"/>
                </a:solidFill>
                <a:latin typeface="Aptos"/>
              </a:defRPr>
            </a:pPr>
            <a:r>
              <a:t>Online Retail CSV uploaded to Amazon S3 raw storage.</a:t>
            </a:r>
          </a:p>
        </p:txBody>
      </p:sp>
      <p:sp>
        <p:nvSpPr>
          <p:cNvPr id="9" name="Oval 8"/>
          <p:cNvSpPr/>
          <p:nvPr/>
        </p:nvSpPr>
        <p:spPr>
          <a:xfrm>
            <a:off x="4389120" y="1325880"/>
            <a:ext cx="347472" cy="347472"/>
          </a:xfrm>
          <a:prstGeom prst="ellipse">
            <a:avLst/>
          </a:prstGeom>
          <a:solidFill>
            <a:srgbClr val="2D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335024"/>
            <a:ext cx="34747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4608" y="1316736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21F2F"/>
                </a:solidFill>
                <a:latin typeface="Aptos"/>
              </a:defRPr>
            </a:pPr>
            <a:r>
              <a:t>Scheduled automation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4608" y="1673352"/>
            <a:ext cx="31546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9" b="0">
                <a:solidFill>
                  <a:srgbClr val="5E6A78"/>
                </a:solidFill>
                <a:latin typeface="Aptos"/>
              </a:defRPr>
            </a:pPr>
            <a:r>
              <a:t>EventBridge rule sales-pipeline-monthly-trigger targets Lambda.</a:t>
            </a:r>
          </a:p>
        </p:txBody>
      </p:sp>
      <p:sp>
        <p:nvSpPr>
          <p:cNvPr id="13" name="Oval 12"/>
          <p:cNvSpPr/>
          <p:nvPr/>
        </p:nvSpPr>
        <p:spPr>
          <a:xfrm>
            <a:off x="8275320" y="1325880"/>
            <a:ext cx="347472" cy="347472"/>
          </a:xfrm>
          <a:prstGeom prst="ellipse">
            <a:avLst/>
          </a:prstGeom>
          <a:solidFill>
            <a:srgbClr val="318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335024"/>
            <a:ext cx="34747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0808" y="1316736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21F2F"/>
                </a:solidFill>
                <a:latin typeface="Aptos"/>
              </a:defRPr>
            </a:pPr>
            <a:r>
              <a:t>Lambda 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0808" y="1673352"/>
            <a:ext cx="31546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9" b="0">
                <a:solidFill>
                  <a:srgbClr val="5E6A78"/>
                </a:solidFill>
                <a:latin typeface="Aptos"/>
              </a:defRPr>
            </a:pPr>
            <a:r>
              <a:t>AWS Lambda reads and parses records using Python 3.12.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2880360"/>
            <a:ext cx="347472" cy="347472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889503"/>
            <a:ext cx="34747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2871216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21F2F"/>
                </a:solidFill>
                <a:latin typeface="Aptos"/>
              </a:defRPr>
            </a:pPr>
            <a:r>
              <a:t>Data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227832"/>
            <a:ext cx="31546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9" b="0">
                <a:solidFill>
                  <a:srgbClr val="5E6A78"/>
                </a:solidFill>
                <a:latin typeface="Aptos"/>
              </a:defRPr>
            </a:pPr>
            <a:r>
              <a:t>Checks missing required values, quantity, and unit price rules.</a:t>
            </a:r>
          </a:p>
        </p:txBody>
      </p:sp>
      <p:sp>
        <p:nvSpPr>
          <p:cNvPr id="21" name="Oval 20"/>
          <p:cNvSpPr/>
          <p:nvPr/>
        </p:nvSpPr>
        <p:spPr>
          <a:xfrm>
            <a:off x="4389120" y="2880360"/>
            <a:ext cx="347472" cy="347472"/>
          </a:xfrm>
          <a:prstGeom prst="ellipse">
            <a:avLst/>
          </a:prstGeom>
          <a:solidFill>
            <a:srgbClr val="2D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2889503"/>
            <a:ext cx="34747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64608" y="2871216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21F2F"/>
                </a:solidFill>
                <a:latin typeface="Aptos"/>
              </a:defRPr>
            </a:pPr>
            <a:r>
              <a:t>Valid / rejected split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4608" y="3227832"/>
            <a:ext cx="31546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9" b="0">
                <a:solidFill>
                  <a:srgbClr val="5E6A78"/>
                </a:solidFill>
                <a:latin typeface="Aptos"/>
              </a:defRPr>
            </a:pPr>
            <a:r>
              <a:t>Accepted records continue; rejected records are retained with issue information.</a:t>
            </a:r>
          </a:p>
        </p:txBody>
      </p:sp>
      <p:sp>
        <p:nvSpPr>
          <p:cNvPr id="25" name="Oval 24"/>
          <p:cNvSpPr/>
          <p:nvPr/>
        </p:nvSpPr>
        <p:spPr>
          <a:xfrm>
            <a:off x="8275320" y="2880360"/>
            <a:ext cx="347472" cy="347472"/>
          </a:xfrm>
          <a:prstGeom prst="ellipse">
            <a:avLst/>
          </a:prstGeom>
          <a:solidFill>
            <a:srgbClr val="318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2889503"/>
            <a:ext cx="34747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50808" y="2871216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21F2F"/>
                </a:solidFill>
                <a:latin typeface="Aptos"/>
              </a:defRPr>
            </a:pPr>
            <a:r>
              <a:t>RDS storage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50808" y="3227832"/>
            <a:ext cx="31546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9" b="0">
                <a:solidFill>
                  <a:srgbClr val="5E6A78"/>
                </a:solidFill>
                <a:latin typeface="Aptos"/>
              </a:defRPr>
            </a:pPr>
            <a:r>
              <a:t>Accepted records loaded into Amazon RDS MySQL for structured access.</a:t>
            </a:r>
          </a:p>
        </p:txBody>
      </p:sp>
      <p:sp>
        <p:nvSpPr>
          <p:cNvPr id="29" name="Oval 28"/>
          <p:cNvSpPr/>
          <p:nvPr/>
        </p:nvSpPr>
        <p:spPr>
          <a:xfrm>
            <a:off x="502920" y="4434840"/>
            <a:ext cx="347472" cy="347472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443983"/>
            <a:ext cx="34747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4425696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21F2F"/>
                </a:solidFill>
                <a:latin typeface="Aptos"/>
              </a:defRPr>
            </a:pPr>
            <a:r>
              <a:t>SNS notifications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" y="4782312"/>
            <a:ext cx="31546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9" b="0">
                <a:solidFill>
                  <a:srgbClr val="5E6A78"/>
                </a:solidFill>
                <a:latin typeface="Aptos"/>
              </a:defRPr>
            </a:pPr>
            <a:r>
              <a:t>Completion and alert notifications provide operational visibility.</a:t>
            </a:r>
          </a:p>
        </p:txBody>
      </p:sp>
      <p:sp>
        <p:nvSpPr>
          <p:cNvPr id="33" name="Oval 32"/>
          <p:cNvSpPr/>
          <p:nvPr/>
        </p:nvSpPr>
        <p:spPr>
          <a:xfrm>
            <a:off x="4389120" y="4434840"/>
            <a:ext cx="347472" cy="347472"/>
          </a:xfrm>
          <a:prstGeom prst="ellipse">
            <a:avLst/>
          </a:prstGeom>
          <a:solidFill>
            <a:srgbClr val="2D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0" y="4443983"/>
            <a:ext cx="34747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64608" y="4425696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21F2F"/>
                </a:solidFill>
                <a:latin typeface="Aptos"/>
              </a:defRPr>
            </a:pPr>
            <a:r>
              <a:t>CloudWatch monitoring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64608" y="4782312"/>
            <a:ext cx="31546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9" b="0">
                <a:solidFill>
                  <a:srgbClr val="5E6A78"/>
                </a:solidFill>
                <a:latin typeface="Aptos"/>
              </a:defRPr>
            </a:pPr>
            <a:r>
              <a:t>Lambda execution logs and errors support monitoring and troubleshooting.</a:t>
            </a:r>
          </a:p>
        </p:txBody>
      </p:sp>
      <p:sp>
        <p:nvSpPr>
          <p:cNvPr id="37" name="Oval 36"/>
          <p:cNvSpPr/>
          <p:nvPr/>
        </p:nvSpPr>
        <p:spPr>
          <a:xfrm>
            <a:off x="8275320" y="4434840"/>
            <a:ext cx="347472" cy="347472"/>
          </a:xfrm>
          <a:prstGeom prst="ellipse">
            <a:avLst/>
          </a:prstGeom>
          <a:solidFill>
            <a:srgbClr val="318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20" y="4443983"/>
            <a:ext cx="34747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50808" y="4425696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21F2F"/>
                </a:solidFill>
                <a:latin typeface="Aptos"/>
              </a:defRPr>
            </a:pPr>
            <a:r>
              <a:t>Business visualization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50808" y="4782312"/>
            <a:ext cx="31546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9" b="0">
                <a:solidFill>
                  <a:srgbClr val="5E6A78"/>
                </a:solidFill>
                <a:latin typeface="Aptos"/>
              </a:defRPr>
            </a:pPr>
            <a:r>
              <a:t>Accepted data powers the Sales KPI Dashboard via GitHub Pages.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6080760"/>
            <a:ext cx="2834640" cy="310896"/>
          </a:xfrm>
          <a:prstGeom prst="roundRect">
            <a:avLst/>
          </a:prstGeom>
          <a:solidFill>
            <a:srgbClr val="F6F8FA"/>
          </a:solidFill>
          <a:ln>
            <a:solidFill>
              <a:srgbClr val="2D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6085332"/>
            <a:ext cx="2834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2D66B2"/>
                </a:solidFill>
                <a:latin typeface="Aptos"/>
              </a:defRPr>
            </a:pPr>
            <a:r>
              <a:t>SCHEDULE: MIDNIGHT UTC • 1ST OF EVERY MONTH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5E6A78"/>
                </a:solidFill>
                <a:latin typeface="Aptos"/>
              </a:defRPr>
            </a:pPr>
            <a:r>
              <a:t>Cloud Foundations Virtual Bootcamp  •  AWS Sales Data Pipeline  •  August 2026                          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2F"/>
                </a:solidFill>
                <a:latin typeface="Aptos Display"/>
              </a:defRPr>
            </a:pPr>
            <a:r>
              <a:t>Data Validation &amp; Pipeline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9611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E6A78"/>
                </a:solidFill>
                <a:latin typeface="Aptos"/>
              </a:defRPr>
            </a:pPr>
            <a:r>
              <a:t>50,000 records processed — with rejected data retained for traceability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2926080" cy="4526280"/>
          </a:xfrm>
          <a:prstGeom prst="roundRect">
            <a:avLst/>
          </a:prstGeom>
          <a:solidFill>
            <a:srgbClr val="12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BCC9D6"/>
                </a:solidFill>
                <a:latin typeface="Aptos"/>
              </a:defRPr>
            </a:pPr>
            <a:r>
              <a:t>TOTAL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057400"/>
            <a:ext cx="2514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ptos"/>
              </a:defRPr>
            </a:pPr>
            <a:r>
              <a:t>50,000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8036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BCC9D6"/>
                </a:solidFill>
                <a:latin typeface="Aptos"/>
              </a:defRPr>
            </a:pPr>
            <a:r>
              <a:t>Pipeline execution result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703320" y="1298448"/>
          <a:ext cx="3749039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343400" y="2331720"/>
            <a:ext cx="2468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121F2F"/>
                </a:solidFill>
                <a:latin typeface="Aptos"/>
              </a:defRPr>
            </a:pPr>
            <a:r>
              <a:t>60.6%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2816352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E6A78"/>
                </a:solidFill>
                <a:latin typeface="Aptos"/>
              </a:defRPr>
            </a:pPr>
            <a:r>
              <a:t>VALID / ACCEPTED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57276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21F2F"/>
                </a:solidFill>
                <a:latin typeface="Aptos"/>
              </a:defRPr>
            </a:pPr>
            <a:r>
              <a:t>30,315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1627632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5E6A78"/>
                </a:solidFill>
                <a:latin typeface="Aptos"/>
              </a:defRPr>
            </a:pPr>
            <a:r>
              <a:t>60.6% valid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2084831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21F2F"/>
                </a:solidFill>
                <a:latin typeface="Aptos"/>
              </a:defRPr>
            </a:pPr>
            <a:r>
              <a:t>19,685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139696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5E6A78"/>
                </a:solidFill>
                <a:latin typeface="Aptos"/>
              </a:defRPr>
            </a:pPr>
            <a:r>
              <a:t>39.4% rejected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2880360"/>
            <a:ext cx="4297680" cy="1874519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E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96912" y="3008376"/>
            <a:ext cx="3968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21F2F"/>
                </a:solidFill>
                <a:latin typeface="Aptos"/>
              </a:defRPr>
            </a:pPr>
            <a:r>
              <a:t>VALIDATION RULES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6912" y="3355848"/>
            <a:ext cx="396849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E6A78"/>
                </a:solidFill>
                <a:latin typeface="Aptos"/>
              </a:defRPr>
            </a:pPr>
            <a:r>
              <a:t>• Missing required values</a:t>
            </a:r>
            <a:br/>
            <a:r>
              <a:t>• Zero / negative quantity</a:t>
            </a:r>
            <a:br/>
            <a:r>
              <a:t>• Zero / negative unit price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4956048"/>
            <a:ext cx="4297680" cy="8229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18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96912" y="5084064"/>
            <a:ext cx="3968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21F2F"/>
                </a:solidFill>
                <a:latin typeface="Aptos"/>
              </a:defRPr>
            </a:pPr>
            <a:r>
              <a:t>TRACEABILITY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96912" y="5431536"/>
            <a:ext cx="39684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5E6A78"/>
                </a:solidFill>
                <a:latin typeface="Aptos"/>
              </a:defRPr>
            </a:pPr>
            <a:r>
              <a:t>Rejected records were retained separately in Amazon S3 with error details.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5E6A78"/>
                </a:solidFill>
                <a:latin typeface="Aptos"/>
              </a:defRPr>
            </a:pPr>
            <a:r>
              <a:t>Cloud Foundations Virtual Bootcamp  •  AWS Sales Data Pipeline  •  August 2026                          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2F"/>
                </a:solidFill>
                <a:latin typeface="Aptos Display"/>
              </a:defRPr>
            </a:pPr>
            <a:r>
              <a:t>Sales KPI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9611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E6A78"/>
                </a:solidFill>
                <a:latin typeface="Aptos"/>
              </a:defRPr>
            </a:pPr>
            <a:r>
              <a:t>Accepted sales data transformed into business-focused information</a:t>
            </a:r>
          </a:p>
        </p:txBody>
      </p:sp>
      <p:pic>
        <p:nvPicPr>
          <p:cNvPr id="5" name="Picture 4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34440"/>
            <a:ext cx="2481286" cy="4800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37960" y="1325880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9900"/>
                </a:solidFill>
                <a:latin typeface="Aptos"/>
              </a:defRPr>
            </a:pPr>
            <a:r>
              <a:t>DASHBOARD CONTENT</a:t>
            </a:r>
          </a:p>
        </p:txBody>
      </p:sp>
      <p:sp>
        <p:nvSpPr>
          <p:cNvPr id="7" name="Oval 6"/>
          <p:cNvSpPr/>
          <p:nvPr/>
        </p:nvSpPr>
        <p:spPr>
          <a:xfrm>
            <a:off x="6565392" y="1810512"/>
            <a:ext cx="146304" cy="146304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39712" y="1783080"/>
            <a:ext cx="4251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21F2F"/>
                </a:solidFill>
                <a:latin typeface="Aptos"/>
              </a:defRPr>
            </a:pPr>
            <a:r>
              <a:t>Revenue KPIs</a:t>
            </a:r>
          </a:p>
        </p:txBody>
      </p:sp>
      <p:sp>
        <p:nvSpPr>
          <p:cNvPr id="9" name="Oval 8"/>
          <p:cNvSpPr/>
          <p:nvPr/>
        </p:nvSpPr>
        <p:spPr>
          <a:xfrm>
            <a:off x="6565392" y="2340863"/>
            <a:ext cx="146304" cy="146304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39712" y="2313432"/>
            <a:ext cx="4251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21F2F"/>
                </a:solidFill>
                <a:latin typeface="Aptos"/>
              </a:defRPr>
            </a:pPr>
            <a:r>
              <a:t>Order trends</a:t>
            </a:r>
          </a:p>
        </p:txBody>
      </p:sp>
      <p:sp>
        <p:nvSpPr>
          <p:cNvPr id="11" name="Oval 10"/>
          <p:cNvSpPr/>
          <p:nvPr/>
        </p:nvSpPr>
        <p:spPr>
          <a:xfrm>
            <a:off x="6565392" y="2871215"/>
            <a:ext cx="146304" cy="146304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39712" y="2843784"/>
            <a:ext cx="4251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21F2F"/>
                </a:solidFill>
                <a:latin typeface="Aptos"/>
              </a:defRPr>
            </a:pPr>
            <a:r>
              <a:t>Top products by revenue</a:t>
            </a:r>
          </a:p>
        </p:txBody>
      </p:sp>
      <p:sp>
        <p:nvSpPr>
          <p:cNvPr id="13" name="Oval 12"/>
          <p:cNvSpPr/>
          <p:nvPr/>
        </p:nvSpPr>
        <p:spPr>
          <a:xfrm>
            <a:off x="6565392" y="3401567"/>
            <a:ext cx="146304" cy="146304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9712" y="3374135"/>
            <a:ext cx="4251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21F2F"/>
                </a:solidFill>
                <a:latin typeface="Aptos"/>
              </a:defRPr>
            </a:pPr>
            <a:r>
              <a:t>Top products by quantity</a:t>
            </a:r>
          </a:p>
        </p:txBody>
      </p:sp>
      <p:sp>
        <p:nvSpPr>
          <p:cNvPr id="15" name="Oval 14"/>
          <p:cNvSpPr/>
          <p:nvPr/>
        </p:nvSpPr>
        <p:spPr>
          <a:xfrm>
            <a:off x="6565392" y="3931920"/>
            <a:ext cx="146304" cy="146304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9712" y="3904487"/>
            <a:ext cx="4251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21F2F"/>
                </a:solidFill>
                <a:latin typeface="Aptos"/>
              </a:defRPr>
            </a:pPr>
            <a:r>
              <a:t>Revenue by country</a:t>
            </a:r>
          </a:p>
        </p:txBody>
      </p:sp>
      <p:sp>
        <p:nvSpPr>
          <p:cNvPr id="17" name="Oval 16"/>
          <p:cNvSpPr/>
          <p:nvPr/>
        </p:nvSpPr>
        <p:spPr>
          <a:xfrm>
            <a:off x="6565392" y="4462272"/>
            <a:ext cx="146304" cy="146304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39712" y="4434840"/>
            <a:ext cx="4251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21F2F"/>
                </a:solidFill>
                <a:latin typeface="Aptos"/>
              </a:defRPr>
            </a:pPr>
            <a:r>
              <a:t>Top customers</a:t>
            </a:r>
          </a:p>
        </p:txBody>
      </p:sp>
      <p:sp>
        <p:nvSpPr>
          <p:cNvPr id="19" name="Oval 18"/>
          <p:cNvSpPr/>
          <p:nvPr/>
        </p:nvSpPr>
        <p:spPr>
          <a:xfrm>
            <a:off x="6565392" y="4992624"/>
            <a:ext cx="146304" cy="146304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9712" y="4965192"/>
            <a:ext cx="4251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21F2F"/>
                </a:solidFill>
                <a:latin typeface="Aptos"/>
              </a:defRPr>
            </a:pPr>
            <a:r>
              <a:t>Sales trends over time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37960" y="5532120"/>
            <a:ext cx="4754880" cy="685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D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02552" y="5660136"/>
            <a:ext cx="44256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21F2F"/>
                </a:solidFill>
                <a:latin typeface="Aptos"/>
              </a:defRPr>
            </a:pPr>
            <a:r>
              <a:t>DEPLOYMENT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2552" y="6007608"/>
            <a:ext cx="4425696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9" b="0">
                <a:solidFill>
                  <a:srgbClr val="5E6A78"/>
                </a:solidFill>
                <a:latin typeface="Aptos"/>
              </a:defRPr>
            </a:pPr>
            <a:r>
              <a:t>visualizations/dashboard.html • GitHub Pages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5E6A78"/>
                </a:solidFill>
                <a:latin typeface="Aptos"/>
              </a:defRPr>
            </a:pPr>
            <a:r>
              <a:t>Cloud Foundations Virtual Bootcamp  •  AWS Sales Data Pipeline  •  August 2026                           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2F"/>
                </a:solidFill>
                <a:latin typeface="Aptos Display"/>
              </a:defRPr>
            </a:pPr>
            <a:r>
              <a:t>Business Benefits, Challenges &amp; Lessons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9611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E6A78"/>
                </a:solidFill>
                <a:latin typeface="Aptos"/>
              </a:defRPr>
            </a:pPr>
            <a:r>
              <a:t>What the project delivered — and what the build taught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3611880" cy="4892040"/>
          </a:xfrm>
          <a:prstGeom prst="roundRect">
            <a:avLst/>
          </a:prstGeom>
          <a:solidFill>
            <a:srgbClr val="F6F8FA"/>
          </a:solidFill>
          <a:ln w="19050">
            <a:solidFill>
              <a:srgbClr val="318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60020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318052"/>
                </a:solidFill>
                <a:latin typeface="Aptos"/>
              </a:defRPr>
            </a:pPr>
            <a:r>
              <a:t>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103120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70" b="0">
                <a:solidFill>
                  <a:srgbClr val="121F2F"/>
                </a:solidFill>
                <a:latin typeface="Aptos"/>
              </a:defRPr>
            </a:pPr>
            <a:r>
              <a:t>• Improved data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660903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70" b="0">
                <a:solidFill>
                  <a:srgbClr val="121F2F"/>
                </a:solidFill>
                <a:latin typeface="Aptos"/>
              </a:defRPr>
            </a:pPr>
            <a:r>
              <a:t>• Reduced manual 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218687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70" b="0">
                <a:solidFill>
                  <a:srgbClr val="121F2F"/>
                </a:solidFill>
                <a:latin typeface="Aptos"/>
              </a:defRPr>
            </a:pPr>
            <a:r>
              <a:t>• Better data organization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776472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70" b="0">
                <a:solidFill>
                  <a:srgbClr val="121F2F"/>
                </a:solidFill>
                <a:latin typeface="Aptos"/>
              </a:defRPr>
            </a:pPr>
            <a:r>
              <a:t>• Structured data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4334256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70" b="0">
                <a:solidFill>
                  <a:srgbClr val="121F2F"/>
                </a:solidFill>
                <a:latin typeface="Aptos"/>
              </a:defRPr>
            </a:pPr>
            <a:r>
              <a:t>• Operational visibility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4892040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70" b="0">
                <a:solidFill>
                  <a:srgbClr val="121F2F"/>
                </a:solidFill>
                <a:latin typeface="Aptos"/>
              </a:defRPr>
            </a:pPr>
            <a:r>
              <a:t>• Business insights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5449824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70" b="0">
                <a:solidFill>
                  <a:srgbClr val="121F2F"/>
                </a:solidFill>
                <a:latin typeface="Aptos"/>
              </a:defRPr>
            </a:pPr>
            <a:r>
              <a:t>• Scalability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371600"/>
            <a:ext cx="3611880" cy="4892040"/>
          </a:xfrm>
          <a:prstGeom prst="roundRect">
            <a:avLst/>
          </a:prstGeom>
          <a:solidFill>
            <a:srgbClr val="F6F8FA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160020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9900"/>
                </a:solidFill>
                <a:latin typeface="Aptos"/>
              </a:defRPr>
            </a:pPr>
            <a:r>
              <a:t>CHALLENGES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103120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70" b="0">
                <a:solidFill>
                  <a:srgbClr val="121F2F"/>
                </a:solidFill>
                <a:latin typeface="Aptos"/>
              </a:defRPr>
            </a:pPr>
            <a:r>
              <a:t>• Understanding AWS service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2779776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70" b="0">
                <a:solidFill>
                  <a:srgbClr val="121F2F"/>
                </a:solidFill>
                <a:latin typeface="Aptos"/>
              </a:defRPr>
            </a:pPr>
            <a:r>
              <a:t>• IAM permissions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3337560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70" b="0">
                <a:solidFill>
                  <a:srgbClr val="121F2F"/>
                </a:solidFill>
                <a:latin typeface="Aptos"/>
              </a:defRPr>
            </a:pPr>
            <a:r>
              <a:t>• Data-quality issues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3895344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70" b="0">
                <a:solidFill>
                  <a:srgbClr val="121F2F"/>
                </a:solidFill>
                <a:latin typeface="Aptos"/>
              </a:defRPr>
            </a:pPr>
            <a:r>
              <a:t>• Lambda-to-RDS connectivity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4453128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70" b="0">
                <a:solidFill>
                  <a:srgbClr val="121F2F"/>
                </a:solidFill>
                <a:latin typeface="Aptos"/>
              </a:defRPr>
            </a:pPr>
            <a:r>
              <a:t>• Dashboard development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152" y="5010912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70" b="0">
                <a:solidFill>
                  <a:srgbClr val="121F2F"/>
                </a:solidFill>
                <a:latin typeface="Aptos"/>
              </a:defRPr>
            </a:pPr>
            <a:r>
              <a:t>• GitHub documentation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1371600"/>
            <a:ext cx="3611880" cy="4892040"/>
          </a:xfrm>
          <a:prstGeom prst="roundRect">
            <a:avLst/>
          </a:prstGeom>
          <a:solidFill>
            <a:srgbClr val="F6F8FA"/>
          </a:solidFill>
          <a:ln w="19050">
            <a:solidFill>
              <a:srgbClr val="2D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76488" y="160020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D66B2"/>
                </a:solidFill>
                <a:latin typeface="Aptos"/>
              </a:defRPr>
            </a:pPr>
            <a:r>
              <a:t>LESSONS LEARNED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1352" y="2103120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70" b="0">
                <a:solidFill>
                  <a:srgbClr val="121F2F"/>
                </a:solidFill>
                <a:latin typeface="Aptos"/>
              </a:defRPr>
            </a:pPr>
            <a:r>
              <a:t>• Data quality is essential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31352" y="2660903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70" b="0">
                <a:solidFill>
                  <a:srgbClr val="121F2F"/>
                </a:solidFill>
                <a:latin typeface="Aptos"/>
              </a:defRPr>
            </a:pPr>
            <a:r>
              <a:t>• Serverless data processing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31352" y="3218687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70" b="0">
                <a:solidFill>
                  <a:srgbClr val="121F2F"/>
                </a:solidFill>
                <a:latin typeface="Aptos"/>
              </a:defRPr>
            </a:pPr>
            <a:r>
              <a:t>• IAM &amp; service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31352" y="3776472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70" b="0">
                <a:solidFill>
                  <a:srgbClr val="121F2F"/>
                </a:solidFill>
                <a:latin typeface="Aptos"/>
              </a:defRPr>
            </a:pPr>
            <a:r>
              <a:t>• Data traceability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31352" y="4334256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70" b="0">
                <a:solidFill>
                  <a:srgbClr val="121F2F"/>
                </a:solidFill>
                <a:latin typeface="Aptos"/>
              </a:defRPr>
            </a:pPr>
            <a:r>
              <a:t>• Relational database storage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1352" y="4892040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70" b="0">
                <a:solidFill>
                  <a:srgbClr val="121F2F"/>
                </a:solidFill>
                <a:latin typeface="Aptos"/>
              </a:defRPr>
            </a:pPr>
            <a:r>
              <a:t>• Data visualization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1352" y="5449824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70" b="0">
                <a:solidFill>
                  <a:srgbClr val="121F2F"/>
                </a:solidFill>
                <a:latin typeface="Aptos"/>
              </a:defRPr>
            </a:pPr>
            <a:r>
              <a:t>• Technical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5E6A78"/>
                </a:solidFill>
                <a:latin typeface="Aptos"/>
              </a:defRPr>
            </a:pPr>
            <a:r>
              <a:t>Cloud Foundations Virtual Bootcamp  •  AWS Sales Data Pipeline  •  August 2026                           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Conclusion &amp; Project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9611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D3DCE5"/>
                </a:solidFill>
                <a:latin typeface="Aptos"/>
              </a:defRPr>
            </a:pPr>
            <a:r>
              <a:t>A practical AWS cloud data engineering solution</a:t>
            </a:r>
          </a:p>
        </p:txBody>
      </p:sp>
      <p:sp>
        <p:nvSpPr>
          <p:cNvPr id="4" name="Oval 3"/>
          <p:cNvSpPr/>
          <p:nvPr/>
        </p:nvSpPr>
        <p:spPr>
          <a:xfrm>
            <a:off x="658368" y="1417320"/>
            <a:ext cx="347472" cy="347472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26464"/>
            <a:ext cx="34747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399032"/>
            <a:ext cx="6217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Built a cloud-based AWS sales data pipeline.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2167128"/>
            <a:ext cx="347472" cy="347472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176272"/>
            <a:ext cx="34747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148840"/>
            <a:ext cx="6217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Processed and validated 50,000 sales records.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916936"/>
            <a:ext cx="347472" cy="347472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926079"/>
            <a:ext cx="34747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898648"/>
            <a:ext cx="6217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Separated valid and rejected data, retaining rejected records for review.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3666744"/>
            <a:ext cx="347472" cy="347472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675887"/>
            <a:ext cx="34747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648456"/>
            <a:ext cx="6217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Stored accepted data in Amazon RDS and provided business insights through the dashboard.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1325880"/>
            <a:ext cx="3840480" cy="3794760"/>
          </a:xfrm>
          <a:prstGeom prst="roundRect">
            <a:avLst/>
          </a:prstGeom>
          <a:solidFill>
            <a:srgbClr val="1F2F44"/>
          </a:solidFill>
          <a:ln>
            <a:solidFill>
              <a:srgbClr val="394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1627632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9900"/>
                </a:solidFill>
                <a:latin typeface="Aptos"/>
              </a:defRPr>
            </a:pPr>
            <a:r>
              <a:t>PROJECT LINKS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2121408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BCC9D6"/>
                </a:solidFill>
                <a:latin typeface="Aptos"/>
              </a:defRPr>
            </a:pPr>
            <a:r>
              <a:t>GitHub Repository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2423160"/>
            <a:ext cx="3154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ptos"/>
              </a:defRPr>
            </a:pPr>
            <a:r>
              <a:rPr>
                <a:hlinkClick r:id="rId2"/>
              </a:rPr>
              <a:t>github.com/faith-ogundusi/</a:t>
            </a:r>
            <a:br/>
            <a:r>
              <a:rPr>
                <a:hlinkClick r:id="rId2"/>
              </a:rPr>
              <a:t>aws-sales-data-pipeline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3154680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BCC9D6"/>
                </a:solidFill>
                <a:latin typeface="Aptos"/>
              </a:defRPr>
            </a:pPr>
            <a:r>
              <a:t>Live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3456432"/>
            <a:ext cx="3154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ptos"/>
              </a:defRPr>
            </a:pPr>
            <a:r>
              <a:rPr>
                <a:hlinkClick r:id="rId3"/>
              </a:rPr>
              <a:t>faith-ogundusi.github.io/</a:t>
            </a:r>
            <a:br/>
            <a:r>
              <a:rPr>
                <a:hlinkClick r:id="rId3"/>
              </a:rPr>
              <a:t>aws-sales-data-pipeline/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2423160"/>
            <a:ext cx="3154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2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3456432"/>
            <a:ext cx="3154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3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07492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A0AFBD"/>
                </a:solidFill>
                <a:latin typeface="Aptos"/>
              </a:defRPr>
            </a:pPr>
            <a:r>
              <a:t>AUTHOR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376672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"/>
              </a:defRPr>
            </a:pPr>
            <a:r>
              <a:t>Faith Ogundusi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779008"/>
            <a:ext cx="6400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C2CCD6"/>
                </a:solidFill>
                <a:latin typeface="Aptos"/>
              </a:defRPr>
            </a:pPr>
            <a:r>
              <a:t>Data Engineer | AWS Cloud | Building Data Pipelines &amp; Scalable Data Solutions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C2CCD6"/>
                </a:solidFill>
                <a:latin typeface="Aptos"/>
              </a:defRPr>
            </a:pPr>
            <a:r>
              <a:t>Cloud Foundations Virtual Bootcamp  •  AWS Sales Data Pipeline  •  August 2026                            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Sales Data Pipeline</dc:title>
  <dc:subject>Cloud Foundations Virtual Bootcamp Final Project</dc:subject>
  <dc:creator>Faith Ogundusi</dc:creator>
  <cp:keywords>AWS, data engineering, S3, Lambda, RDS, SNS, EventBridge, CloudWatch, IAM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